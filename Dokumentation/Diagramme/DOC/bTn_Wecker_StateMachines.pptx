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97" autoAdjust="0"/>
    <p:restoredTop sz="95342" autoAdjust="0"/>
  </p:normalViewPr>
  <p:slideViewPr>
    <p:cSldViewPr snapToObjects="1">
      <p:cViewPr varScale="1">
        <p:scale>
          <a:sx n="99" d="100"/>
          <a:sy n="99" d="100"/>
        </p:scale>
        <p:origin x="6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90001" cy="9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425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6">
            <a:extLst>
              <a:ext uri="{FF2B5EF4-FFF2-40B4-BE49-F238E27FC236}">
                <a16:creationId xmlns:a16="http://schemas.microsoft.com/office/drawing/2014/main" id="{8360F1C9-FA7A-5F47-54EE-3C06A06BBC4E}"/>
              </a:ext>
            </a:extLst>
          </p:cNvPr>
          <p:cNvSpPr/>
          <p:nvPr/>
        </p:nvSpPr>
        <p:spPr>
          <a:xfrm>
            <a:off x="360000" y="5040000"/>
            <a:ext cx="11448000" cy="1476000"/>
          </a:xfrm>
          <a:prstGeom prst="rect">
            <a:avLst/>
          </a:prstGeom>
          <a:solidFill>
            <a:srgbClr val="FFFDE7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963BDC7D-607F-339D-EF57-245F2085B215}"/>
              </a:ext>
            </a:extLst>
          </p:cNvPr>
          <p:cNvSpPr/>
          <p:nvPr/>
        </p:nvSpPr>
        <p:spPr>
          <a:xfrm>
            <a:off x="8712000" y="2412000"/>
            <a:ext cx="1620000" cy="936000"/>
          </a:xfrm>
          <a:prstGeom prst="roundRect">
            <a:avLst>
              <a:gd name="adj" fmla="val 8571"/>
            </a:avLst>
          </a:prstGeom>
          <a:solidFill>
            <a:srgbClr val="FCE4D6"/>
          </a:solidFill>
          <a:ln w="25400">
            <a:solidFill>
              <a:srgbClr val="833C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1AFFEA00-9084-6C6C-DDAC-891025A26A4F}"/>
              </a:ext>
            </a:extLst>
          </p:cNvPr>
          <p:cNvSpPr/>
          <p:nvPr/>
        </p:nvSpPr>
        <p:spPr>
          <a:xfrm>
            <a:off x="1872000" y="2412000"/>
            <a:ext cx="1620000" cy="936000"/>
          </a:xfrm>
          <a:prstGeom prst="roundRect">
            <a:avLst>
              <a:gd name="adj" fmla="val 8571"/>
            </a:avLst>
          </a:prstGeom>
          <a:solidFill>
            <a:srgbClr val="BDD7EE"/>
          </a:solidFill>
          <a:ln w="25400">
            <a:solidFill>
              <a:srgbClr val="1F4E79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0" y="0"/>
            <a:ext cx="122040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Alarm-State-Machine  ·  alarmTask (Core 0, Pri 2)  ·  Takt: 500 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72000" y="2412000"/>
            <a:ext cx="162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ALARM_IDLE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72000" y="2880000"/>
            <a:ext cx="162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Alarm aktiv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712000" y="2412000"/>
            <a:ext cx="162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ALARM_RUNNING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12000" y="2880000"/>
            <a:ext cx="162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MP3 </a:t>
            </a:r>
            <a:r>
              <a:rPr lang="en-US" sz="1000" i="1" dirty="0" err="1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spielt</a:t>
            </a:r>
            <a:endParaRPr lang="en-US" sz="1000" i="1" dirty="0">
              <a:solidFill>
                <a:srgbClr val="59595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000" i="1" dirty="0" err="1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Ausgänge</a:t>
            </a: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aktiv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06000" y="1656000"/>
            <a:ext cx="198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 err="1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Alarmzeit</a:t>
            </a:r>
            <a:r>
              <a:rPr lang="en-US" sz="100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i="1" dirty="0" err="1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erreicht</a:t>
            </a:r>
            <a:r>
              <a:rPr lang="en-US" sz="100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(a2 analog a1):</a:t>
            </a:r>
          </a:p>
          <a:p>
            <a:pPr marL="0" indent="0" algn="ctr">
              <a:buNone/>
            </a:pPr>
            <a:r>
              <a:rPr lang="en-US" sz="100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sec==0</a:t>
            </a:r>
          </a:p>
          <a:p>
            <a:pPr marL="0" indent="0" algn="ctr">
              <a:buNone/>
            </a:pPr>
            <a:r>
              <a:rPr lang="en-US" sz="100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min==a1_min</a:t>
            </a:r>
          </a:p>
          <a:p>
            <a:pPr marL="0" indent="0" algn="ctr">
              <a:buNone/>
            </a:pPr>
            <a:r>
              <a:rPr lang="en-US" sz="100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hour==a1_hour</a:t>
            </a:r>
          </a:p>
          <a:p>
            <a:pPr marL="0" indent="0" algn="ctr">
              <a:buNone/>
            </a:pPr>
            <a:r>
              <a:rPr lang="en-US" sz="100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min≠lastA1Min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6000" y="3240000"/>
            <a:ext cx="2052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playerStatus == 0  (MP3 </a:t>
            </a:r>
            <a:r>
              <a:rPr lang="en-US" sz="1000" i="1" dirty="0" err="1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beendet</a:t>
            </a:r>
            <a:r>
              <a:rPr lang="en-US" sz="1000" i="1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</a:p>
          <a:p>
            <a:pPr marL="0" indent="0" algn="ctr">
              <a:buNone/>
            </a:pPr>
            <a:r>
              <a:rPr lang="en-US" sz="1000" i="1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ALARM_POLL_MS (5 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04000" y="4428000"/>
            <a:ext cx="219456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S1: manueller Abbruch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52000" y="1368000"/>
            <a:ext cx="2304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ALARM_POLL_MS: readState()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8000" y="5040000"/>
            <a:ext cx="10836000" cy="14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Bedingungen</a:t>
            </a: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für:                            IDLE → RUNNING:                       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a1_on=true · sec==0 · min==a1_min · hour==a1_hour · min≠lastA1Min (</a:t>
            </a:r>
            <a:r>
              <a:rPr lang="en-US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Minuten-Sperre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 -  a2 analog a1</a:t>
            </a:r>
          </a:p>
          <a:p>
            <a:pPr>
              <a:spcAft>
                <a:spcPts val="300"/>
              </a:spcAft>
            </a:pPr>
            <a:r>
              <a:rPr lang="de-DE" sz="1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                                                    RUNNING → IDLE:                       </a:t>
            </a:r>
            <a:r>
              <a:rPr lang="de-DE" sz="1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Nach ALARM_POLL_MS (5 s): </a:t>
            </a:r>
            <a:r>
              <a:rPr lang="de-DE" sz="10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playerStatus</a:t>
            </a:r>
            <a:r>
              <a:rPr lang="de-DE" sz="1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== 0 (MP3 beendet)</a:t>
            </a:r>
            <a:endParaRPr lang="de-DE" sz="105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 1 </a:t>
            </a:r>
            <a:r>
              <a:rPr lang="en-US" sz="1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Vorrang</a:t>
            </a: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                           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 2 </a:t>
            </a:r>
            <a:r>
              <a:rPr lang="en-US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via else-if </a:t>
            </a:r>
            <a:r>
              <a:rPr lang="en-US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geprüft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Alarm 1 hat </a:t>
            </a:r>
            <a:r>
              <a:rPr lang="en-US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Vorrang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gleicher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Zeit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playerMutex:                                    </a:t>
            </a:r>
            <a:r>
              <a:rPr lang="en-US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schützt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playFolder()- und readState()-Aufrufe. vTaskDelay(1ms) liegt außerhalb des Mutex.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playerStatus</a:t>
            </a: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                                  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== 0 (9v4: war &lt; 1) </a:t>
            </a:r>
            <a:r>
              <a:rPr lang="en-US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verhindert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Fehlabbruch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readState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()-Timeout (UART-</a:t>
            </a:r>
            <a:r>
              <a:rPr lang="en-US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Konflikt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webLogTask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</a:p>
        </p:txBody>
      </p:sp>
      <p:sp>
        <p:nvSpPr>
          <p:cNvPr id="30" name="Shape 61">
            <a:extLst>
              <a:ext uri="{FF2B5EF4-FFF2-40B4-BE49-F238E27FC236}">
                <a16:creationId xmlns:a16="http://schemas.microsoft.com/office/drawing/2014/main" id="{AEE2DE77-1C1E-AED9-CCF9-94A7AB2287DA}"/>
              </a:ext>
            </a:extLst>
          </p:cNvPr>
          <p:cNvSpPr/>
          <p:nvPr/>
        </p:nvSpPr>
        <p:spPr>
          <a:xfrm>
            <a:off x="1260000" y="2736000"/>
            <a:ext cx="288000" cy="2880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1" name="Shape 20">
            <a:extLst>
              <a:ext uri="{FF2B5EF4-FFF2-40B4-BE49-F238E27FC236}">
                <a16:creationId xmlns:a16="http://schemas.microsoft.com/office/drawing/2014/main" id="{60B18FCF-139E-398E-E681-910853E143C2}"/>
              </a:ext>
            </a:extLst>
          </p:cNvPr>
          <p:cNvSpPr/>
          <p:nvPr/>
        </p:nvSpPr>
        <p:spPr>
          <a:xfrm>
            <a:off x="1584000" y="2880000"/>
            <a:ext cx="25200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stealth" w="med" len="lg"/>
          </a:ln>
        </p:spPr>
        <p:txBody>
          <a:bodyPr/>
          <a:lstStyle/>
          <a:p>
            <a:pPr algn="ctr"/>
            <a:endParaRPr lang="de-DE" dirty="0"/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3E7281E4-808E-C9CA-4F52-5658E2A02A0C}"/>
              </a:ext>
            </a:extLst>
          </p:cNvPr>
          <p:cNvSpPr/>
          <p:nvPr/>
        </p:nvSpPr>
        <p:spPr>
          <a:xfrm>
            <a:off x="3528000" y="2592000"/>
            <a:ext cx="5148000" cy="0"/>
          </a:xfrm>
          <a:prstGeom prst="line">
            <a:avLst/>
          </a:prstGeom>
          <a:noFill/>
          <a:ln w="31750">
            <a:solidFill>
              <a:srgbClr val="1F4E79"/>
            </a:solidFill>
            <a:prstDash val="solid"/>
            <a:headEnd type="none"/>
            <a:tailEnd type="stealth" w="med" len="lg"/>
          </a:ln>
        </p:spPr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6AF8F8BB-65BA-4340-233E-12E1E738EFC7}"/>
              </a:ext>
            </a:extLst>
          </p:cNvPr>
          <p:cNvSpPr/>
          <p:nvPr/>
        </p:nvSpPr>
        <p:spPr>
          <a:xfrm flipH="1">
            <a:off x="3528000" y="3168000"/>
            <a:ext cx="5148000" cy="0"/>
          </a:xfrm>
          <a:prstGeom prst="line">
            <a:avLst/>
          </a:prstGeom>
          <a:noFill/>
          <a:ln w="31750">
            <a:solidFill>
              <a:srgbClr val="1F4E79"/>
            </a:solidFill>
            <a:prstDash val="solid"/>
            <a:headEnd type="none"/>
            <a:tailEnd type="stealth" w="med" len="lg"/>
          </a:ln>
        </p:spPr>
      </p:sp>
      <p:sp>
        <p:nvSpPr>
          <p:cNvPr id="34" name="Shape 46">
            <a:extLst>
              <a:ext uri="{FF2B5EF4-FFF2-40B4-BE49-F238E27FC236}">
                <a16:creationId xmlns:a16="http://schemas.microsoft.com/office/drawing/2014/main" id="{C20A3E9B-A9F8-8068-3476-6744277F5BAF}"/>
              </a:ext>
            </a:extLst>
          </p:cNvPr>
          <p:cNvSpPr/>
          <p:nvPr/>
        </p:nvSpPr>
        <p:spPr>
          <a:xfrm flipV="1">
            <a:off x="2664000" y="3384000"/>
            <a:ext cx="0" cy="9720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ysDash"/>
            <a:headEnd type="none"/>
            <a:tailEnd type="stealth" w="med" len="lg"/>
          </a:ln>
        </p:spPr>
      </p:sp>
      <p:sp>
        <p:nvSpPr>
          <p:cNvPr id="36" name="Shape 48">
            <a:extLst>
              <a:ext uri="{FF2B5EF4-FFF2-40B4-BE49-F238E27FC236}">
                <a16:creationId xmlns:a16="http://schemas.microsoft.com/office/drawing/2014/main" id="{BAC8E22C-C8AE-B196-426F-7511BB609D62}"/>
              </a:ext>
            </a:extLst>
          </p:cNvPr>
          <p:cNvSpPr/>
          <p:nvPr/>
        </p:nvSpPr>
        <p:spPr>
          <a:xfrm flipH="1">
            <a:off x="2663999" y="4356000"/>
            <a:ext cx="687600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ysDash"/>
            <a:headEnd type="none"/>
            <a:tailEnd type="none" w="med" len="lg"/>
          </a:ln>
        </p:spPr>
      </p:sp>
      <p:sp>
        <p:nvSpPr>
          <p:cNvPr id="37" name="Shape 43">
            <a:extLst>
              <a:ext uri="{FF2B5EF4-FFF2-40B4-BE49-F238E27FC236}">
                <a16:creationId xmlns:a16="http://schemas.microsoft.com/office/drawing/2014/main" id="{93298C82-5779-E521-109A-4D362A47C667}"/>
              </a:ext>
            </a:extLst>
          </p:cNvPr>
          <p:cNvSpPr/>
          <p:nvPr/>
        </p:nvSpPr>
        <p:spPr>
          <a:xfrm>
            <a:off x="9540000" y="3384000"/>
            <a:ext cx="0" cy="9720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ysDash"/>
            <a:headEnd type="none"/>
            <a:tailEnd type="stealth" w="med" len="lg"/>
          </a:ln>
        </p:spPr>
      </p:sp>
      <p:sp>
        <p:nvSpPr>
          <p:cNvPr id="35" name="Text 47">
            <a:extLst>
              <a:ext uri="{FF2B5EF4-FFF2-40B4-BE49-F238E27FC236}">
                <a16:creationId xmlns:a16="http://schemas.microsoft.com/office/drawing/2014/main" id="{36FEF0DF-0DAA-41A5-6DC1-292349A68BDF}"/>
              </a:ext>
            </a:extLst>
          </p:cNvPr>
          <p:cNvSpPr/>
          <p:nvPr/>
        </p:nvSpPr>
        <p:spPr>
          <a:xfrm>
            <a:off x="9360000" y="3672000"/>
            <a:ext cx="360000" cy="2160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000" dirty="0"/>
          </a:p>
        </p:txBody>
      </p:sp>
      <p:sp>
        <p:nvSpPr>
          <p:cNvPr id="39" name="Shape 25">
            <a:extLst>
              <a:ext uri="{FF2B5EF4-FFF2-40B4-BE49-F238E27FC236}">
                <a16:creationId xmlns:a16="http://schemas.microsoft.com/office/drawing/2014/main" id="{19E11748-D908-4AB9-D183-3410C70F556D}"/>
              </a:ext>
            </a:extLst>
          </p:cNvPr>
          <p:cNvSpPr/>
          <p:nvPr/>
        </p:nvSpPr>
        <p:spPr>
          <a:xfrm>
            <a:off x="9504000" y="1620000"/>
            <a:ext cx="0" cy="75600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stealth" w="med" len="lg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6">
            <a:extLst>
              <a:ext uri="{FF2B5EF4-FFF2-40B4-BE49-F238E27FC236}">
                <a16:creationId xmlns:a16="http://schemas.microsoft.com/office/drawing/2014/main" id="{E3B5DACE-4A36-25DC-6EAD-15B5B01AE3E0}"/>
              </a:ext>
            </a:extLst>
          </p:cNvPr>
          <p:cNvSpPr/>
          <p:nvPr/>
        </p:nvSpPr>
        <p:spPr>
          <a:xfrm>
            <a:off x="360000" y="5040000"/>
            <a:ext cx="11448000" cy="1476000"/>
          </a:xfrm>
          <a:prstGeom prst="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122040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Kuckuck-State-Machine  ·  alarmTask (Core 0, Pri 2)  ·  Takt: 500 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72000" y="2412000"/>
            <a:ext cx="1620000" cy="936000"/>
          </a:xfrm>
          <a:prstGeom prst="roundRect">
            <a:avLst>
              <a:gd name="adj" fmla="val 8571"/>
            </a:avLst>
          </a:prstGeom>
          <a:solidFill>
            <a:srgbClr val="E2EFDA"/>
          </a:solidFill>
          <a:ln w="25400">
            <a:solidFill>
              <a:srgbClr val="37562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72000" y="2412000"/>
            <a:ext cx="162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CUCKOO_IDLE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72000" y="2880000"/>
            <a:ext cx="162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wartet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712000" y="2412000"/>
            <a:ext cx="1620000" cy="936000"/>
          </a:xfrm>
          <a:prstGeom prst="roundRect">
            <a:avLst>
              <a:gd name="adj" fmla="val 8571"/>
            </a:avLst>
          </a:prstGeom>
          <a:solidFill>
            <a:srgbClr val="EDE7F6"/>
          </a:solidFill>
          <a:ln w="25400">
            <a:solidFill>
              <a:srgbClr val="4A148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712000" y="2412000"/>
            <a:ext cx="162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CUCKOO_RUNNING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12000" y="2880000"/>
            <a:ext cx="162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 HIGH · Kuckuck aktiv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40000" y="2016000"/>
            <a:ext cx="2124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min==0 · sec==0 · cuckoo_on · Zeitfenster OK · !alarmThisHour · min≠lastCuckooMin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40000" y="3204000"/>
            <a:ext cx="2124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CUCKOO_DURATION_MS (7,5 s) abgelaufen  →  E1 LOW · lastCuckooMin=0xFF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80000" y="4428000"/>
            <a:ext cx="2556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(kein Alarm aktiv): manuell auslösen · unabhängig von Zeitfenster &amp; cuckoo_on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8000" y="5040000"/>
            <a:ext cx="10836000" cy="14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Zeitfenster-Prüfung:                        </a:t>
            </a:r>
            <a:r>
              <a:rPr lang="en-US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cuckoo_onTime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≤ hour ≤ cuckoo_offTime  (normal).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                     Bei Mitternacht-Überlauf (z.B. 22–06): hour ≥ onTime ODER hour ≤ offTime.
</a:t>
            </a: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alarmThisHour:                                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(a1_on &amp;&amp; a1_min==0 &amp;&amp; hour==a1_hour) || (a2_on &amp;&amp; a2_min==0 &amp;&amp; hour==a2_hour)  → Kuckuck </a:t>
            </a:r>
            <a:r>
              <a:rPr lang="en-US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unterdrückt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Minuten-Sperre:                               </a:t>
            </a:r>
            <a:r>
              <a:rPr lang="en-US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lastCuckooMin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wird auf t_min gesetzt und erst nach CUCKOO_RUNNING → IDLE auf 0xFF </a:t>
            </a:r>
            <a:r>
              <a:rPr lang="en-US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zurückgesetzt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Shape 61">
            <a:extLst>
              <a:ext uri="{FF2B5EF4-FFF2-40B4-BE49-F238E27FC236}">
                <a16:creationId xmlns:a16="http://schemas.microsoft.com/office/drawing/2014/main" id="{51986F63-A7D4-0477-D11E-F511004B3D09}"/>
              </a:ext>
            </a:extLst>
          </p:cNvPr>
          <p:cNvSpPr/>
          <p:nvPr/>
        </p:nvSpPr>
        <p:spPr>
          <a:xfrm>
            <a:off x="1260000" y="2736000"/>
            <a:ext cx="288000" cy="2880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FC03D0A-17A8-77D4-6044-8FC272BE0F81}"/>
              </a:ext>
            </a:extLst>
          </p:cNvPr>
          <p:cNvSpPr/>
          <p:nvPr/>
        </p:nvSpPr>
        <p:spPr>
          <a:xfrm>
            <a:off x="1584000" y="2880000"/>
            <a:ext cx="25200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stealth" w="med" len="lg"/>
          </a:ln>
        </p:spPr>
        <p:txBody>
          <a:bodyPr/>
          <a:lstStyle/>
          <a:p>
            <a:pPr algn="ctr"/>
            <a:endParaRPr lang="de-DE" dirty="0"/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E0365596-E0B8-3B1A-98C4-8976D18128C9}"/>
              </a:ext>
            </a:extLst>
          </p:cNvPr>
          <p:cNvSpPr/>
          <p:nvPr/>
        </p:nvSpPr>
        <p:spPr>
          <a:xfrm>
            <a:off x="3528000" y="2592000"/>
            <a:ext cx="5148000" cy="0"/>
          </a:xfrm>
          <a:prstGeom prst="line">
            <a:avLst/>
          </a:prstGeom>
          <a:noFill/>
          <a:ln w="31750">
            <a:solidFill>
              <a:srgbClr val="1F4E79"/>
            </a:solidFill>
            <a:prstDash val="solid"/>
            <a:headEnd type="none"/>
            <a:tailEnd type="stealth" w="med" len="lg"/>
          </a:ln>
        </p:spPr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155563B4-0DC9-5757-4C7A-0806593CA16D}"/>
              </a:ext>
            </a:extLst>
          </p:cNvPr>
          <p:cNvSpPr/>
          <p:nvPr/>
        </p:nvSpPr>
        <p:spPr>
          <a:xfrm flipH="1">
            <a:off x="3528000" y="3168000"/>
            <a:ext cx="5148000" cy="0"/>
          </a:xfrm>
          <a:prstGeom prst="line">
            <a:avLst/>
          </a:prstGeom>
          <a:noFill/>
          <a:ln w="31750">
            <a:solidFill>
              <a:srgbClr val="1F4E79"/>
            </a:solidFill>
            <a:prstDash val="solid"/>
            <a:headEnd type="none"/>
            <a:tailEnd type="stealth" w="med" len="lg"/>
          </a:ln>
        </p:spPr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19395A28-3E26-40B7-BC45-BCC453E71976}"/>
              </a:ext>
            </a:extLst>
          </p:cNvPr>
          <p:cNvSpPr/>
          <p:nvPr/>
        </p:nvSpPr>
        <p:spPr>
          <a:xfrm flipV="1">
            <a:off x="9540000" y="3384000"/>
            <a:ext cx="0" cy="7200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ysDash"/>
            <a:headEnd type="none"/>
            <a:tailEnd type="stealth" w="med" len="lg"/>
          </a:ln>
        </p:spPr>
      </p:sp>
      <p:sp>
        <p:nvSpPr>
          <p:cNvPr id="28" name="Text 47">
            <a:extLst>
              <a:ext uri="{FF2B5EF4-FFF2-40B4-BE49-F238E27FC236}">
                <a16:creationId xmlns:a16="http://schemas.microsoft.com/office/drawing/2014/main" id="{60E4F0A0-2F7C-6A60-58EC-A034845C2CE4}"/>
              </a:ext>
            </a:extLst>
          </p:cNvPr>
          <p:cNvSpPr/>
          <p:nvPr/>
        </p:nvSpPr>
        <p:spPr>
          <a:xfrm>
            <a:off x="9360000" y="4104000"/>
            <a:ext cx="360000" cy="2160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2040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Touch-State-Machine  ·  touchTask (Core 0, Pri 2)  ·  Takt: TOUCH_POLL_MS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72000" y="2412000"/>
            <a:ext cx="1260000" cy="936000"/>
          </a:xfrm>
          <a:prstGeom prst="roundRect">
            <a:avLst>
              <a:gd name="adj" fmla="val 8000"/>
            </a:avLst>
          </a:prstGeom>
          <a:solidFill>
            <a:srgbClr val="BDD7EE"/>
          </a:solidFill>
          <a:ln w="25400">
            <a:solidFill>
              <a:srgbClr val="1F4E79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72000" y="2412000"/>
            <a:ext cx="126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TS_IDLE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72000" y="2880000"/>
            <a:ext cx="126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Touch aktiv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72000" y="2412000"/>
            <a:ext cx="1260000" cy="9360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25400">
            <a:solidFill>
              <a:srgbClr val="833C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72000" y="2412000"/>
            <a:ext cx="126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TS_PRESSED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72000" y="2880000"/>
            <a:ext cx="126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Hold-Erkennung läuft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072000" y="2412000"/>
            <a:ext cx="1260000" cy="936000"/>
          </a:xfrm>
          <a:prstGeom prst="roundRect">
            <a:avLst>
              <a:gd name="adj" fmla="val 8000"/>
            </a:avLst>
          </a:prstGeom>
          <a:solidFill>
            <a:srgbClr val="EDE7F6"/>
          </a:solidFill>
          <a:ln w="25400">
            <a:solidFill>
              <a:srgbClr val="4A148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072000" y="2412000"/>
            <a:ext cx="126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TS_REPEAT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072000" y="2880000"/>
            <a:ext cx="126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aktiv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68000" y="2592000"/>
            <a:ext cx="2268000" cy="0"/>
          </a:xfrm>
          <a:prstGeom prst="line">
            <a:avLst/>
          </a:prstGeom>
          <a:noFill/>
          <a:ln w="31750">
            <a:solidFill>
              <a:srgbClr val="1F4E79"/>
            </a:solidFill>
            <a:prstDash val="solid"/>
            <a:headEnd type="none"/>
            <a:tailEnd type="stealth" w="med" len="lg"/>
          </a:ln>
        </p:spPr>
      </p:sp>
      <p:sp>
        <p:nvSpPr>
          <p:cNvPr id="16" name="Text 14"/>
          <p:cNvSpPr/>
          <p:nvPr/>
        </p:nvSpPr>
        <p:spPr>
          <a:xfrm>
            <a:off x="3168000" y="2376000"/>
            <a:ext cx="2268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ON  +  sofort EVT_TX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flipH="1">
            <a:off x="3168000" y="3168000"/>
            <a:ext cx="2268000" cy="0"/>
          </a:xfrm>
          <a:prstGeom prst="line">
            <a:avLst/>
          </a:prstGeom>
          <a:noFill/>
          <a:ln w="31750">
            <a:solidFill>
              <a:srgbClr val="1F4E79"/>
            </a:solidFill>
            <a:prstDash val="solid"/>
            <a:headEnd type="none"/>
            <a:tailEnd type="stealth" w="med" len="lg"/>
          </a:ln>
        </p:spPr>
      </p:sp>
      <p:sp>
        <p:nvSpPr>
          <p:cNvPr id="18" name="Text 16"/>
          <p:cNvSpPr/>
          <p:nvPr/>
        </p:nvSpPr>
        <p:spPr>
          <a:xfrm>
            <a:off x="3168000" y="2952000"/>
            <a:ext cx="2268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OFF (vor HOLD)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66560" y="2664000"/>
            <a:ext cx="2268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TOUCH_HOLD_MS (750 ms)  +  EVT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04000" y="3924000"/>
            <a:ext cx="219456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OFF  →  TS_IDLE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16000" y="1404000"/>
            <a:ext cx="2736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TOUCH_REPEAT_MS (250 ms)  →  EVT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84000" y="1620000"/>
            <a:ext cx="0" cy="75600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stealth" w="med" len="lg"/>
          </a:ln>
        </p:spPr>
      </p:sp>
      <p:sp>
        <p:nvSpPr>
          <p:cNvPr id="28" name="Shape 26"/>
          <p:cNvSpPr/>
          <p:nvPr/>
        </p:nvSpPr>
        <p:spPr>
          <a:xfrm>
            <a:off x="360000" y="5040000"/>
            <a:ext cx="11448000" cy="14760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8000" y="5040000"/>
            <a:ext cx="10836000" cy="14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Schwellwert:                                     </a:t>
            </a:r>
            <a:r>
              <a:rPr lang="en-US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padWert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&lt; (baseline − TOUCH_DROP)  → Touch </a:t>
            </a:r>
            <a:r>
              <a:rPr lang="en-US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erkannt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                     Fallback, wenn baseline &lt; TOUCH_DROP: 80% der Baseline.
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Exklusivität</a:t>
            </a: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                                    </a:t>
            </a:r>
            <a:r>
              <a:rPr lang="en-US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Sobald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ein Pad aktiv ist (TS_PRESSED/TS_REPEAT) werden alle anderen Pads </a:t>
            </a:r>
            <a:r>
              <a:rPr lang="en-US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ignoriert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                     Baseline-</a:t>
            </a:r>
            <a:r>
              <a:rPr lang="en-US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Rekalibrierung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alle 10 min </a:t>
            </a:r>
            <a:r>
              <a:rPr lang="en-US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TS_IDLE.
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 Debouncing - </a:t>
            </a:r>
            <a:r>
              <a:rPr lang="en-US" sz="1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Stufe</a:t>
            </a: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1:              </a:t>
            </a:r>
            <a:r>
              <a:rPr lang="en-US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Flanken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&lt; BTN_DEBOUNCE_MS (30 ms) werden in der ISR verworfen → saubere Queue.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</a:t>
            </a: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r>
              <a:rPr lang="en-US" sz="1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Stufe</a:t>
            </a: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2:              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(inputTask): BTN_LOCKOUT_MS (1000 ms) Aktionssperre.</a:t>
            </a:r>
            <a:endParaRPr lang="en-US" sz="1000" dirty="0"/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A5CE1AB6-FC5E-0D18-B69F-998571C338BB}"/>
              </a:ext>
            </a:extLst>
          </p:cNvPr>
          <p:cNvSpPr/>
          <p:nvPr/>
        </p:nvSpPr>
        <p:spPr>
          <a:xfrm>
            <a:off x="6768000" y="2880000"/>
            <a:ext cx="2268000" cy="0"/>
          </a:xfrm>
          <a:prstGeom prst="line">
            <a:avLst/>
          </a:prstGeom>
          <a:noFill/>
          <a:ln w="31750">
            <a:solidFill>
              <a:srgbClr val="1F4E79"/>
            </a:solidFill>
            <a:prstDash val="solid"/>
            <a:headEnd type="none"/>
            <a:tailEnd type="stealth" w="med" len="lg"/>
          </a:ln>
        </p:spPr>
      </p:sp>
      <p:sp>
        <p:nvSpPr>
          <p:cNvPr id="31" name="Shape 15">
            <a:extLst>
              <a:ext uri="{FF2B5EF4-FFF2-40B4-BE49-F238E27FC236}">
                <a16:creationId xmlns:a16="http://schemas.microsoft.com/office/drawing/2014/main" id="{3E3E264A-7A84-1F9B-1471-91B3279A2E7A}"/>
              </a:ext>
            </a:extLst>
          </p:cNvPr>
          <p:cNvSpPr/>
          <p:nvPr/>
        </p:nvSpPr>
        <p:spPr>
          <a:xfrm flipH="1">
            <a:off x="2484000" y="4140000"/>
            <a:ext cx="7200000" cy="0"/>
          </a:xfrm>
          <a:prstGeom prst="line">
            <a:avLst/>
          </a:prstGeom>
          <a:noFill/>
          <a:ln w="31750">
            <a:solidFill>
              <a:srgbClr val="1F4E79"/>
            </a:solidFill>
            <a:prstDash val="solid"/>
            <a:headEnd type="none"/>
            <a:tailEnd type="stealth" w="med" len="lg"/>
          </a:ln>
        </p:spPr>
      </p:sp>
      <p:sp>
        <p:nvSpPr>
          <p:cNvPr id="32" name="Shape 43">
            <a:extLst>
              <a:ext uri="{FF2B5EF4-FFF2-40B4-BE49-F238E27FC236}">
                <a16:creationId xmlns:a16="http://schemas.microsoft.com/office/drawing/2014/main" id="{9774804B-8150-40E7-CC19-3DEF37CA843B}"/>
              </a:ext>
            </a:extLst>
          </p:cNvPr>
          <p:cNvSpPr/>
          <p:nvPr/>
        </p:nvSpPr>
        <p:spPr>
          <a:xfrm>
            <a:off x="9684000" y="3384000"/>
            <a:ext cx="0" cy="756000"/>
          </a:xfrm>
          <a:prstGeom prst="line">
            <a:avLst/>
          </a:prstGeom>
          <a:noFill/>
          <a:ln w="31750">
            <a:solidFill>
              <a:srgbClr val="1F4E79"/>
            </a:solidFill>
            <a:prstDash val="solid"/>
            <a:headEnd type="none"/>
            <a:tailEnd type="stealth" w="med" len="lg"/>
          </a:ln>
        </p:spPr>
      </p:sp>
      <p:sp>
        <p:nvSpPr>
          <p:cNvPr id="33" name="Shape 38">
            <a:extLst>
              <a:ext uri="{FF2B5EF4-FFF2-40B4-BE49-F238E27FC236}">
                <a16:creationId xmlns:a16="http://schemas.microsoft.com/office/drawing/2014/main" id="{7EA98CBE-D6CE-FDE6-A751-4A7FBA5D931D}"/>
              </a:ext>
            </a:extLst>
          </p:cNvPr>
          <p:cNvSpPr/>
          <p:nvPr/>
        </p:nvSpPr>
        <p:spPr>
          <a:xfrm flipV="1">
            <a:off x="2484000" y="3348000"/>
            <a:ext cx="0" cy="792000"/>
          </a:xfrm>
          <a:prstGeom prst="line">
            <a:avLst/>
          </a:prstGeom>
          <a:noFill/>
          <a:ln w="31750">
            <a:solidFill>
              <a:srgbClr val="1F4E79"/>
            </a:solidFill>
            <a:prstDash val="solid"/>
            <a:headEnd type="none"/>
            <a:tailEnd type="stealth" w="med" len="lg"/>
          </a:ln>
        </p:spPr>
        <p:txBody>
          <a:bodyPr/>
          <a:lstStyle/>
          <a:p>
            <a:endParaRPr lang="de-DE" dirty="0"/>
          </a:p>
        </p:txBody>
      </p:sp>
      <p:sp>
        <p:nvSpPr>
          <p:cNvPr id="34" name="Shape 61">
            <a:extLst>
              <a:ext uri="{FF2B5EF4-FFF2-40B4-BE49-F238E27FC236}">
                <a16:creationId xmlns:a16="http://schemas.microsoft.com/office/drawing/2014/main" id="{6EBBB2D3-FF97-5166-4FCC-BBE6CF3947A3}"/>
              </a:ext>
            </a:extLst>
          </p:cNvPr>
          <p:cNvSpPr/>
          <p:nvPr/>
        </p:nvSpPr>
        <p:spPr>
          <a:xfrm>
            <a:off x="1260000" y="2736000"/>
            <a:ext cx="288000" cy="2880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5" name="Shape 20">
            <a:extLst>
              <a:ext uri="{FF2B5EF4-FFF2-40B4-BE49-F238E27FC236}">
                <a16:creationId xmlns:a16="http://schemas.microsoft.com/office/drawing/2014/main" id="{8901BAE2-091B-5590-C510-ED0B87D52F4D}"/>
              </a:ext>
            </a:extLst>
          </p:cNvPr>
          <p:cNvSpPr/>
          <p:nvPr/>
        </p:nvSpPr>
        <p:spPr>
          <a:xfrm>
            <a:off x="1584000" y="2880000"/>
            <a:ext cx="25200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stealth" w="med" len="lg"/>
          </a:ln>
        </p:spPr>
        <p:txBody>
          <a:bodyPr/>
          <a:lstStyle/>
          <a:p>
            <a:pPr algn="ctr"/>
            <a:endParaRPr lang="de-D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6">
            <a:extLst>
              <a:ext uri="{FF2B5EF4-FFF2-40B4-BE49-F238E27FC236}">
                <a16:creationId xmlns:a16="http://schemas.microsoft.com/office/drawing/2014/main" id="{6798EFAD-A1C7-0FA3-AD31-55EA482521CB}"/>
              </a:ext>
            </a:extLst>
          </p:cNvPr>
          <p:cNvSpPr/>
          <p:nvPr/>
        </p:nvSpPr>
        <p:spPr>
          <a:xfrm>
            <a:off x="360000" y="5868000"/>
            <a:ext cx="11448000" cy="648000"/>
          </a:xfrm>
          <a:prstGeom prst="rect">
            <a:avLst/>
          </a:prstGeom>
          <a:solidFill>
            <a:srgbClr val="F0F0F0"/>
          </a:solidFill>
          <a:ln w="12700">
            <a:solidFill>
              <a:schemeClr val="bg1">
                <a:lumMod val="65000"/>
              </a:schemeClr>
            </a:solidFill>
          </a:ln>
        </p:spPr>
      </p:sp>
      <p:sp>
        <p:nvSpPr>
          <p:cNvPr id="94" name="Shape 43">
            <a:extLst>
              <a:ext uri="{FF2B5EF4-FFF2-40B4-BE49-F238E27FC236}">
                <a16:creationId xmlns:a16="http://schemas.microsoft.com/office/drawing/2014/main" id="{99BE25EE-A889-290D-12F6-663921C62B7E}"/>
              </a:ext>
            </a:extLst>
          </p:cNvPr>
          <p:cNvSpPr/>
          <p:nvPr/>
        </p:nvSpPr>
        <p:spPr>
          <a:xfrm>
            <a:off x="2772000" y="1908000"/>
            <a:ext cx="0" cy="198000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ysDash"/>
            <a:headEnd type="none"/>
            <a:tailEnd type="stealth" w="med" len="lg"/>
          </a:ln>
        </p:spPr>
      </p:sp>
      <p:sp>
        <p:nvSpPr>
          <p:cNvPr id="96" name="Shape 43">
            <a:extLst>
              <a:ext uri="{FF2B5EF4-FFF2-40B4-BE49-F238E27FC236}">
                <a16:creationId xmlns:a16="http://schemas.microsoft.com/office/drawing/2014/main" id="{EEA69B48-4CE5-1C9E-9931-0C8848DA61ED}"/>
              </a:ext>
            </a:extLst>
          </p:cNvPr>
          <p:cNvSpPr/>
          <p:nvPr/>
        </p:nvSpPr>
        <p:spPr>
          <a:xfrm>
            <a:off x="4392000" y="1908000"/>
            <a:ext cx="0" cy="198000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ysDash"/>
            <a:headEnd type="none"/>
            <a:tailEnd type="stealth" w="med" len="lg"/>
          </a:ln>
        </p:spPr>
      </p:sp>
      <p:sp>
        <p:nvSpPr>
          <p:cNvPr id="98" name="Shape 43">
            <a:extLst>
              <a:ext uri="{FF2B5EF4-FFF2-40B4-BE49-F238E27FC236}">
                <a16:creationId xmlns:a16="http://schemas.microsoft.com/office/drawing/2014/main" id="{F97F5097-AFB2-E688-68C9-2DB60EAA7082}"/>
              </a:ext>
            </a:extLst>
          </p:cNvPr>
          <p:cNvSpPr/>
          <p:nvPr/>
        </p:nvSpPr>
        <p:spPr>
          <a:xfrm>
            <a:off x="6012000" y="1908000"/>
            <a:ext cx="0" cy="198000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ysDash"/>
            <a:headEnd type="none"/>
            <a:tailEnd type="stealth" w="med" len="lg"/>
          </a:ln>
        </p:spPr>
      </p:sp>
      <p:sp>
        <p:nvSpPr>
          <p:cNvPr id="100" name="Shape 43">
            <a:extLst>
              <a:ext uri="{FF2B5EF4-FFF2-40B4-BE49-F238E27FC236}">
                <a16:creationId xmlns:a16="http://schemas.microsoft.com/office/drawing/2014/main" id="{EF78B60E-5887-D063-6396-0B73E84A9992}"/>
              </a:ext>
            </a:extLst>
          </p:cNvPr>
          <p:cNvSpPr/>
          <p:nvPr/>
        </p:nvSpPr>
        <p:spPr>
          <a:xfrm>
            <a:off x="7632000" y="1908000"/>
            <a:ext cx="0" cy="198000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ysDash"/>
            <a:headEnd type="none"/>
            <a:tailEnd type="stealth" w="med" len="lg"/>
          </a:ln>
        </p:spPr>
      </p:sp>
      <p:sp>
        <p:nvSpPr>
          <p:cNvPr id="102" name="Shape 43">
            <a:extLst>
              <a:ext uri="{FF2B5EF4-FFF2-40B4-BE49-F238E27FC236}">
                <a16:creationId xmlns:a16="http://schemas.microsoft.com/office/drawing/2014/main" id="{37ACA4F4-9839-0D6C-66D1-D206ACCE9C3E}"/>
              </a:ext>
            </a:extLst>
          </p:cNvPr>
          <p:cNvSpPr/>
          <p:nvPr/>
        </p:nvSpPr>
        <p:spPr>
          <a:xfrm>
            <a:off x="9216000" y="1908000"/>
            <a:ext cx="0" cy="198000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ysDash"/>
            <a:headEnd type="none"/>
            <a:tailEnd type="stealth" w="med" len="lg"/>
          </a:ln>
        </p:spPr>
      </p:sp>
      <p:sp>
        <p:nvSpPr>
          <p:cNvPr id="104" name="Shape 43">
            <a:extLst>
              <a:ext uri="{FF2B5EF4-FFF2-40B4-BE49-F238E27FC236}">
                <a16:creationId xmlns:a16="http://schemas.microsoft.com/office/drawing/2014/main" id="{62A71B48-0A00-69AA-ADD9-E38623A2D680}"/>
              </a:ext>
            </a:extLst>
          </p:cNvPr>
          <p:cNvSpPr/>
          <p:nvPr/>
        </p:nvSpPr>
        <p:spPr>
          <a:xfrm>
            <a:off x="10800000" y="1908000"/>
            <a:ext cx="0" cy="198000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ysDash"/>
            <a:headEnd type="none"/>
            <a:tailEnd type="stealth" w="med" len="lg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122040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UI-State-Machine  ·  inputTask (Core 1, Pri 2)  +  displayTask (Core 1, Pri 1)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 flipH="1" flipV="1">
            <a:off x="1944000" y="3168000"/>
            <a:ext cx="9576000" cy="0"/>
          </a:xfrm>
          <a:prstGeom prst="line">
            <a:avLst/>
          </a:prstGeom>
          <a:noFill/>
          <a:ln w="31750">
            <a:solidFill>
              <a:srgbClr val="1F4E79"/>
            </a:solidFill>
            <a:prstDash val="solid"/>
            <a:headEnd type="none"/>
            <a:tailEnd type="stealth" w="med" len="lg"/>
          </a:ln>
        </p:spPr>
      </p:sp>
      <p:sp>
        <p:nvSpPr>
          <p:cNvPr id="40" name="Shape 38"/>
          <p:cNvSpPr/>
          <p:nvPr/>
        </p:nvSpPr>
        <p:spPr>
          <a:xfrm flipH="1" flipV="1">
            <a:off x="1943999" y="1907999"/>
            <a:ext cx="0" cy="2448000"/>
          </a:xfrm>
          <a:prstGeom prst="line">
            <a:avLst/>
          </a:prstGeom>
          <a:noFill/>
          <a:ln w="31750">
            <a:solidFill>
              <a:srgbClr val="1F4E79"/>
            </a:solidFill>
            <a:prstDash val="solid"/>
            <a:headEnd type="none"/>
            <a:tailEnd type="stealth" w="med" len="lg"/>
          </a:ln>
        </p:spPr>
        <p:txBody>
          <a:bodyPr/>
          <a:lstStyle/>
          <a:p>
            <a:endParaRPr lang="de-DE" dirty="0"/>
          </a:p>
        </p:txBody>
      </p:sp>
      <p:sp>
        <p:nvSpPr>
          <p:cNvPr id="41" name="Shape 39"/>
          <p:cNvSpPr/>
          <p:nvPr/>
        </p:nvSpPr>
        <p:spPr>
          <a:xfrm>
            <a:off x="1008000" y="4392000"/>
            <a:ext cx="1260000" cy="936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25400">
            <a:solidFill>
              <a:srgbClr val="595959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008000" y="4392000"/>
            <a:ext cx="126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UI_INFO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08000" y="4860000"/>
            <a:ext cx="126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Info-Seite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 flipH="1" flipV="1">
            <a:off x="1188000" y="2808000"/>
            <a:ext cx="0" cy="15480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ysDash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 flipV="1">
            <a:off x="1188000" y="1908000"/>
            <a:ext cx="0" cy="7200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ysDash"/>
            <a:headEnd type="none"/>
            <a:tailEnd type="stealth" w="med" len="lg"/>
          </a:ln>
        </p:spPr>
      </p:sp>
      <p:sp>
        <p:nvSpPr>
          <p:cNvPr id="50" name="Shape 48"/>
          <p:cNvSpPr/>
          <p:nvPr/>
        </p:nvSpPr>
        <p:spPr>
          <a:xfrm>
            <a:off x="1584000" y="3888000"/>
            <a:ext cx="921600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5760000" y="3924000"/>
            <a:ext cx="216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(von jeder Seite) ──▶ UI_INFO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40000" y="4320000"/>
            <a:ext cx="2160000" cy="50292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40000" y="4320000"/>
            <a:ext cx="216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 → WiFi-Konfigurator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(clearWifiCredentials + restart)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628000" y="4392000"/>
            <a:ext cx="25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40000" y="4896000"/>
            <a:ext cx="2160000" cy="502920"/>
          </a:xfrm>
          <a:prstGeom prst="rect">
            <a:avLst/>
          </a:prstGeom>
          <a:solidFill>
            <a:srgbClr val="FCE4D6"/>
          </a:solidFill>
          <a:ln w="12700">
            <a:solidFill>
              <a:srgbClr val="833C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40000" y="4896000"/>
            <a:ext cx="216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 → Werksreset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(nvs_flash_erase + restart)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628000" y="4968000"/>
            <a:ext cx="25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060000" y="2304000"/>
            <a:ext cx="8172000" cy="6120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060000" y="2304000"/>
            <a:ext cx="8172000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Auto-Rückkehr nach AUTO_RETURN_MS (20 s) ohne Touch → UI_CLOCK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Display-Timeout: OLED schaltet nach DISPLAY_TIMEOUT_MS (5 min) ohne Touch ab;</a:t>
            </a:r>
          </a:p>
          <a:p>
            <a:pPr marL="0" indent="0" algn="ctr">
              <a:buNone/>
            </a:pPr>
            <a:r>
              <a:rPr lang="en-US" sz="1000" dirty="0" err="1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</a:t>
            </a:r>
            <a:r>
              <a:rPr lang="en-US" sz="10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Touch weckt das Display, das auslösende Event wird verworfen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48000" y="5868000"/>
            <a:ext cx="10836000" cy="64800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T2/T3/T4 State-spezifisch:              </a:t>
            </a:r>
            <a:r>
              <a:rPr lang="en-US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onClock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(Vol±) · onAlarm1/2 (h/min) · onSound1/2 (Datei/Vorschau) · onFuncs (Kuckuck/Licht/Mühlrad) · </a:t>
            </a:r>
            <a:r>
              <a:rPr lang="en-US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onCuckooTime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(von/bis) · onInfo (WiFi/Reset)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08000" y="936000"/>
            <a:ext cx="1260000" cy="936000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 w="25400">
            <a:solidFill>
              <a:srgbClr val="1F4E79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endParaRPr lang="de-DE" dirty="0"/>
          </a:p>
        </p:txBody>
      </p:sp>
      <p:sp>
        <p:nvSpPr>
          <p:cNvPr id="5" name="Text 3"/>
          <p:cNvSpPr/>
          <p:nvPr/>
        </p:nvSpPr>
        <p:spPr>
          <a:xfrm>
            <a:off x="1008000" y="936000"/>
            <a:ext cx="126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UI_CLOCK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8000" y="1404000"/>
            <a:ext cx="126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92000" y="936000"/>
            <a:ext cx="1260000" cy="936000"/>
          </a:xfrm>
          <a:prstGeom prst="roundRect">
            <a:avLst>
              <a:gd name="adj" fmla="val 12000"/>
            </a:avLst>
          </a:prstGeom>
          <a:solidFill>
            <a:srgbClr val="FCE4D6"/>
          </a:solidFill>
          <a:ln w="25400">
            <a:solidFill>
              <a:srgbClr val="833C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92000" y="936000"/>
            <a:ext cx="126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UI_ALARM1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92000" y="1404000"/>
            <a:ext cx="126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76000" y="936000"/>
            <a:ext cx="1260000" cy="936000"/>
          </a:xfrm>
          <a:prstGeom prst="roundRect">
            <a:avLst>
              <a:gd name="adj" fmla="val 12000"/>
            </a:avLst>
          </a:prstGeom>
          <a:solidFill>
            <a:srgbClr val="FCE4D6"/>
          </a:solidFill>
          <a:ln w="25400">
            <a:solidFill>
              <a:srgbClr val="833C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76000" y="936000"/>
            <a:ext cx="126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UI_ALARM2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76000" y="1404000"/>
            <a:ext cx="126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000" y="936000"/>
            <a:ext cx="1260000" cy="93600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25400">
            <a:solidFill>
              <a:srgbClr val="37562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60000" y="936000"/>
            <a:ext cx="126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UI_SOUND1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000" y="1404000"/>
            <a:ext cx="126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44000" y="936000"/>
            <a:ext cx="1260000" cy="93600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25400">
            <a:solidFill>
              <a:srgbClr val="37562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44000" y="936000"/>
            <a:ext cx="126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UI_SOUND2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44000" y="1404000"/>
            <a:ext cx="126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28000" y="936000"/>
            <a:ext cx="1260000" cy="936000"/>
          </a:xfrm>
          <a:prstGeom prst="roundRect">
            <a:avLst>
              <a:gd name="adj" fmla="val 12000"/>
            </a:avLst>
          </a:prstGeom>
          <a:solidFill>
            <a:srgbClr val="EDE7F6"/>
          </a:solidFill>
          <a:ln w="25400">
            <a:solidFill>
              <a:srgbClr val="4A148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28000" y="936000"/>
            <a:ext cx="126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UI_FUNCS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28000" y="1404000"/>
            <a:ext cx="126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04000" y="1404000"/>
            <a:ext cx="252000" cy="0"/>
          </a:xfrm>
          <a:prstGeom prst="line">
            <a:avLst/>
          </a:prstGeom>
          <a:noFill/>
          <a:ln w="31750">
            <a:solidFill>
              <a:srgbClr val="1F4E79"/>
            </a:solidFill>
            <a:prstDash val="solid"/>
            <a:headEnd type="none"/>
            <a:tailEnd type="stealth" w="med" len="lg"/>
          </a:ln>
        </p:spPr>
        <p:txBody>
          <a:bodyPr/>
          <a:lstStyle/>
          <a:p>
            <a:pPr algn="ctr"/>
            <a:endParaRPr lang="de-DE" dirty="0"/>
          </a:p>
        </p:txBody>
      </p:sp>
      <p:sp>
        <p:nvSpPr>
          <p:cNvPr id="23" name="Text 21"/>
          <p:cNvSpPr/>
          <p:nvPr/>
        </p:nvSpPr>
        <p:spPr>
          <a:xfrm>
            <a:off x="2304000" y="1188000"/>
            <a:ext cx="25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512000" y="936000"/>
            <a:ext cx="1260000" cy="936000"/>
          </a:xfrm>
          <a:prstGeom prst="roundRect">
            <a:avLst>
              <a:gd name="adj" fmla="val 12000"/>
            </a:avLst>
          </a:prstGeom>
          <a:solidFill>
            <a:srgbClr val="EDE7F6"/>
          </a:solidFill>
          <a:ln w="25400">
            <a:solidFill>
              <a:srgbClr val="4A148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512000" y="936000"/>
            <a:ext cx="126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UI_CUCKOO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512000" y="1404000"/>
            <a:ext cx="126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6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96000" y="1260000"/>
            <a:ext cx="288000" cy="2880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1" name="Shape 20">
            <a:extLst>
              <a:ext uri="{FF2B5EF4-FFF2-40B4-BE49-F238E27FC236}">
                <a16:creationId xmlns:a16="http://schemas.microsoft.com/office/drawing/2014/main" id="{233CA766-095D-A00F-9BCD-2C1299E5B694}"/>
              </a:ext>
            </a:extLst>
          </p:cNvPr>
          <p:cNvSpPr/>
          <p:nvPr/>
        </p:nvSpPr>
        <p:spPr>
          <a:xfrm>
            <a:off x="720000" y="1404000"/>
            <a:ext cx="25200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stealth" w="med" len="lg"/>
          </a:ln>
        </p:spPr>
        <p:txBody>
          <a:bodyPr/>
          <a:lstStyle/>
          <a:p>
            <a:pPr algn="ctr"/>
            <a:endParaRPr lang="de-DE" dirty="0"/>
          </a:p>
        </p:txBody>
      </p:sp>
      <p:sp>
        <p:nvSpPr>
          <p:cNvPr id="72" name="Shape 20">
            <a:extLst>
              <a:ext uri="{FF2B5EF4-FFF2-40B4-BE49-F238E27FC236}">
                <a16:creationId xmlns:a16="http://schemas.microsoft.com/office/drawing/2014/main" id="{F5A4E09E-AF36-45AB-EDB9-E41A9CF95C12}"/>
              </a:ext>
            </a:extLst>
          </p:cNvPr>
          <p:cNvSpPr/>
          <p:nvPr/>
        </p:nvSpPr>
        <p:spPr>
          <a:xfrm>
            <a:off x="3900000" y="1404000"/>
            <a:ext cx="252000" cy="0"/>
          </a:xfrm>
          <a:prstGeom prst="line">
            <a:avLst/>
          </a:prstGeom>
          <a:noFill/>
          <a:ln w="31750">
            <a:solidFill>
              <a:srgbClr val="1F4E79"/>
            </a:solidFill>
            <a:prstDash val="solid"/>
            <a:headEnd type="none"/>
            <a:tailEnd type="stealth" w="med" len="lg"/>
          </a:ln>
        </p:spPr>
        <p:txBody>
          <a:bodyPr/>
          <a:lstStyle/>
          <a:p>
            <a:pPr algn="ctr"/>
            <a:endParaRPr lang="de-DE" dirty="0"/>
          </a:p>
        </p:txBody>
      </p:sp>
      <p:sp>
        <p:nvSpPr>
          <p:cNvPr id="73" name="Text 21">
            <a:extLst>
              <a:ext uri="{FF2B5EF4-FFF2-40B4-BE49-F238E27FC236}">
                <a16:creationId xmlns:a16="http://schemas.microsoft.com/office/drawing/2014/main" id="{FB8B243C-7BAB-5255-609A-85473EBA1747}"/>
              </a:ext>
            </a:extLst>
          </p:cNvPr>
          <p:cNvSpPr/>
          <p:nvPr/>
        </p:nvSpPr>
        <p:spPr>
          <a:xfrm>
            <a:off x="3888000" y="1188000"/>
            <a:ext cx="25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</a:t>
            </a:r>
            <a:endParaRPr lang="en-US" sz="1000" dirty="0"/>
          </a:p>
        </p:txBody>
      </p:sp>
      <p:sp>
        <p:nvSpPr>
          <p:cNvPr id="74" name="Shape 20">
            <a:extLst>
              <a:ext uri="{FF2B5EF4-FFF2-40B4-BE49-F238E27FC236}">
                <a16:creationId xmlns:a16="http://schemas.microsoft.com/office/drawing/2014/main" id="{8475F139-8004-7CE4-F55A-4AF7C0154D08}"/>
              </a:ext>
            </a:extLst>
          </p:cNvPr>
          <p:cNvSpPr/>
          <p:nvPr/>
        </p:nvSpPr>
        <p:spPr>
          <a:xfrm>
            <a:off x="5472000" y="1404000"/>
            <a:ext cx="252000" cy="0"/>
          </a:xfrm>
          <a:prstGeom prst="line">
            <a:avLst/>
          </a:prstGeom>
          <a:noFill/>
          <a:ln w="31750">
            <a:solidFill>
              <a:srgbClr val="1F4E79"/>
            </a:solidFill>
            <a:prstDash val="solid"/>
            <a:headEnd type="none"/>
            <a:tailEnd type="stealth" w="med" len="lg"/>
          </a:ln>
        </p:spPr>
        <p:txBody>
          <a:bodyPr/>
          <a:lstStyle/>
          <a:p>
            <a:pPr algn="ctr"/>
            <a:endParaRPr lang="de-DE" dirty="0"/>
          </a:p>
        </p:txBody>
      </p:sp>
      <p:sp>
        <p:nvSpPr>
          <p:cNvPr id="75" name="Text 21">
            <a:extLst>
              <a:ext uri="{FF2B5EF4-FFF2-40B4-BE49-F238E27FC236}">
                <a16:creationId xmlns:a16="http://schemas.microsoft.com/office/drawing/2014/main" id="{968D3666-75AC-8465-41A9-58792FFB4B26}"/>
              </a:ext>
            </a:extLst>
          </p:cNvPr>
          <p:cNvSpPr/>
          <p:nvPr/>
        </p:nvSpPr>
        <p:spPr>
          <a:xfrm>
            <a:off x="5472000" y="1188000"/>
            <a:ext cx="25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</a:t>
            </a:r>
            <a:endParaRPr lang="en-US" sz="1000" dirty="0"/>
          </a:p>
        </p:txBody>
      </p:sp>
      <p:sp>
        <p:nvSpPr>
          <p:cNvPr id="76" name="Shape 20">
            <a:extLst>
              <a:ext uri="{FF2B5EF4-FFF2-40B4-BE49-F238E27FC236}">
                <a16:creationId xmlns:a16="http://schemas.microsoft.com/office/drawing/2014/main" id="{3B485396-2E95-76E9-5E09-3A4879F19A47}"/>
              </a:ext>
            </a:extLst>
          </p:cNvPr>
          <p:cNvSpPr/>
          <p:nvPr/>
        </p:nvSpPr>
        <p:spPr>
          <a:xfrm>
            <a:off x="7056000" y="1404000"/>
            <a:ext cx="252000" cy="0"/>
          </a:xfrm>
          <a:prstGeom prst="line">
            <a:avLst/>
          </a:prstGeom>
          <a:noFill/>
          <a:ln w="31750">
            <a:solidFill>
              <a:srgbClr val="1F4E79"/>
            </a:solidFill>
            <a:prstDash val="solid"/>
            <a:headEnd type="none"/>
            <a:tailEnd type="stealth" w="med" len="lg"/>
          </a:ln>
        </p:spPr>
        <p:txBody>
          <a:bodyPr/>
          <a:lstStyle/>
          <a:p>
            <a:pPr algn="ctr"/>
            <a:endParaRPr lang="de-DE" dirty="0"/>
          </a:p>
        </p:txBody>
      </p:sp>
      <p:sp>
        <p:nvSpPr>
          <p:cNvPr id="77" name="Text 21">
            <a:extLst>
              <a:ext uri="{FF2B5EF4-FFF2-40B4-BE49-F238E27FC236}">
                <a16:creationId xmlns:a16="http://schemas.microsoft.com/office/drawing/2014/main" id="{15E6058B-A8C5-6569-B80C-0C3BDB3293E0}"/>
              </a:ext>
            </a:extLst>
          </p:cNvPr>
          <p:cNvSpPr/>
          <p:nvPr/>
        </p:nvSpPr>
        <p:spPr>
          <a:xfrm>
            <a:off x="7056000" y="1188000"/>
            <a:ext cx="25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</a:t>
            </a:r>
            <a:endParaRPr lang="en-US" sz="1000" dirty="0"/>
          </a:p>
        </p:txBody>
      </p:sp>
      <p:sp>
        <p:nvSpPr>
          <p:cNvPr id="78" name="Shape 20">
            <a:extLst>
              <a:ext uri="{FF2B5EF4-FFF2-40B4-BE49-F238E27FC236}">
                <a16:creationId xmlns:a16="http://schemas.microsoft.com/office/drawing/2014/main" id="{362915A3-5940-089C-5C7D-8AE78873FECE}"/>
              </a:ext>
            </a:extLst>
          </p:cNvPr>
          <p:cNvSpPr/>
          <p:nvPr/>
        </p:nvSpPr>
        <p:spPr>
          <a:xfrm>
            <a:off x="8640000" y="1404000"/>
            <a:ext cx="252000" cy="0"/>
          </a:xfrm>
          <a:prstGeom prst="line">
            <a:avLst/>
          </a:prstGeom>
          <a:noFill/>
          <a:ln w="31750">
            <a:solidFill>
              <a:srgbClr val="1F4E79"/>
            </a:solidFill>
            <a:prstDash val="solid"/>
            <a:headEnd type="none"/>
            <a:tailEnd type="stealth" w="med" len="lg"/>
          </a:ln>
        </p:spPr>
        <p:txBody>
          <a:bodyPr/>
          <a:lstStyle/>
          <a:p>
            <a:pPr algn="ctr"/>
            <a:endParaRPr lang="de-DE" dirty="0"/>
          </a:p>
        </p:txBody>
      </p:sp>
      <p:sp>
        <p:nvSpPr>
          <p:cNvPr id="79" name="Text 21">
            <a:extLst>
              <a:ext uri="{FF2B5EF4-FFF2-40B4-BE49-F238E27FC236}">
                <a16:creationId xmlns:a16="http://schemas.microsoft.com/office/drawing/2014/main" id="{E561AC42-D06A-3BDA-30F1-5D7FD9AAE889}"/>
              </a:ext>
            </a:extLst>
          </p:cNvPr>
          <p:cNvSpPr/>
          <p:nvPr/>
        </p:nvSpPr>
        <p:spPr>
          <a:xfrm>
            <a:off x="8640000" y="1188000"/>
            <a:ext cx="25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</a:t>
            </a:r>
            <a:endParaRPr lang="en-US" sz="1000" dirty="0"/>
          </a:p>
        </p:txBody>
      </p:sp>
      <p:sp>
        <p:nvSpPr>
          <p:cNvPr id="80" name="Shape 20">
            <a:extLst>
              <a:ext uri="{FF2B5EF4-FFF2-40B4-BE49-F238E27FC236}">
                <a16:creationId xmlns:a16="http://schemas.microsoft.com/office/drawing/2014/main" id="{D02B47F6-5368-431C-135F-D8DFEA0E47FE}"/>
              </a:ext>
            </a:extLst>
          </p:cNvPr>
          <p:cNvSpPr/>
          <p:nvPr/>
        </p:nvSpPr>
        <p:spPr>
          <a:xfrm>
            <a:off x="10224000" y="1404000"/>
            <a:ext cx="252000" cy="0"/>
          </a:xfrm>
          <a:prstGeom prst="line">
            <a:avLst/>
          </a:prstGeom>
          <a:noFill/>
          <a:ln w="31750">
            <a:solidFill>
              <a:srgbClr val="1F4E79"/>
            </a:solidFill>
            <a:prstDash val="solid"/>
            <a:headEnd type="none"/>
            <a:tailEnd type="stealth" w="med" len="lg"/>
          </a:ln>
        </p:spPr>
        <p:txBody>
          <a:bodyPr/>
          <a:lstStyle/>
          <a:p>
            <a:pPr algn="ctr"/>
            <a:endParaRPr lang="de-DE" dirty="0"/>
          </a:p>
        </p:txBody>
      </p:sp>
      <p:sp>
        <p:nvSpPr>
          <p:cNvPr id="81" name="Text 21">
            <a:extLst>
              <a:ext uri="{FF2B5EF4-FFF2-40B4-BE49-F238E27FC236}">
                <a16:creationId xmlns:a16="http://schemas.microsoft.com/office/drawing/2014/main" id="{94908669-B5AC-FEF5-E86C-E9884C9394FD}"/>
              </a:ext>
            </a:extLst>
          </p:cNvPr>
          <p:cNvSpPr/>
          <p:nvPr/>
        </p:nvSpPr>
        <p:spPr>
          <a:xfrm>
            <a:off x="10224000" y="1188000"/>
            <a:ext cx="25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</a:t>
            </a:r>
            <a:endParaRPr lang="en-US" sz="1000" dirty="0"/>
          </a:p>
        </p:txBody>
      </p:sp>
      <p:sp>
        <p:nvSpPr>
          <p:cNvPr id="83" name="Shape 38">
            <a:extLst>
              <a:ext uri="{FF2B5EF4-FFF2-40B4-BE49-F238E27FC236}">
                <a16:creationId xmlns:a16="http://schemas.microsoft.com/office/drawing/2014/main" id="{23220DA2-4F61-8B9A-75BF-BC2CFF989B02}"/>
              </a:ext>
            </a:extLst>
          </p:cNvPr>
          <p:cNvSpPr/>
          <p:nvPr/>
        </p:nvSpPr>
        <p:spPr>
          <a:xfrm>
            <a:off x="11124000" y="1908000"/>
            <a:ext cx="0" cy="360000"/>
          </a:xfrm>
          <a:prstGeom prst="line">
            <a:avLst/>
          </a:prstGeom>
          <a:noFill/>
          <a:ln w="19050">
            <a:solidFill>
              <a:srgbClr val="1F4E79"/>
            </a:solidFill>
            <a:prstDash val="sysDash"/>
            <a:headEnd type="none"/>
            <a:tailEnd type="stealth" w="med" len="lg"/>
          </a:ln>
        </p:spPr>
        <p:txBody>
          <a:bodyPr/>
          <a:lstStyle/>
          <a:p>
            <a:endParaRPr lang="de-DE" dirty="0"/>
          </a:p>
        </p:txBody>
      </p:sp>
      <p:sp>
        <p:nvSpPr>
          <p:cNvPr id="84" name="Shape 38">
            <a:extLst>
              <a:ext uri="{FF2B5EF4-FFF2-40B4-BE49-F238E27FC236}">
                <a16:creationId xmlns:a16="http://schemas.microsoft.com/office/drawing/2014/main" id="{18E5BA7A-A3FF-7EE2-984F-8D252F86CB63}"/>
              </a:ext>
            </a:extLst>
          </p:cNvPr>
          <p:cNvSpPr/>
          <p:nvPr/>
        </p:nvSpPr>
        <p:spPr>
          <a:xfrm>
            <a:off x="9540000" y="1908000"/>
            <a:ext cx="0" cy="360000"/>
          </a:xfrm>
          <a:prstGeom prst="line">
            <a:avLst/>
          </a:prstGeom>
          <a:noFill/>
          <a:ln w="19050">
            <a:solidFill>
              <a:srgbClr val="1F4E79"/>
            </a:solidFill>
            <a:prstDash val="sysDash"/>
            <a:headEnd type="none"/>
            <a:tailEnd type="stealth" w="med" len="lg"/>
          </a:ln>
        </p:spPr>
        <p:txBody>
          <a:bodyPr/>
          <a:lstStyle/>
          <a:p>
            <a:endParaRPr lang="de-DE" dirty="0"/>
          </a:p>
        </p:txBody>
      </p:sp>
      <p:sp>
        <p:nvSpPr>
          <p:cNvPr id="85" name="Shape 38">
            <a:extLst>
              <a:ext uri="{FF2B5EF4-FFF2-40B4-BE49-F238E27FC236}">
                <a16:creationId xmlns:a16="http://schemas.microsoft.com/office/drawing/2014/main" id="{CD87D47B-6C6B-E8CC-25C6-252B702B5AFE}"/>
              </a:ext>
            </a:extLst>
          </p:cNvPr>
          <p:cNvSpPr/>
          <p:nvPr/>
        </p:nvSpPr>
        <p:spPr>
          <a:xfrm>
            <a:off x="3168000" y="1908000"/>
            <a:ext cx="0" cy="360000"/>
          </a:xfrm>
          <a:prstGeom prst="line">
            <a:avLst/>
          </a:prstGeom>
          <a:noFill/>
          <a:ln w="19050">
            <a:solidFill>
              <a:srgbClr val="1F4E79"/>
            </a:solidFill>
            <a:prstDash val="sysDash"/>
            <a:headEnd type="none"/>
            <a:tailEnd type="stealth" w="med" len="lg"/>
          </a:ln>
        </p:spPr>
        <p:txBody>
          <a:bodyPr/>
          <a:lstStyle/>
          <a:p>
            <a:endParaRPr lang="de-DE" dirty="0"/>
          </a:p>
        </p:txBody>
      </p:sp>
      <p:sp>
        <p:nvSpPr>
          <p:cNvPr id="86" name="Shape 38">
            <a:extLst>
              <a:ext uri="{FF2B5EF4-FFF2-40B4-BE49-F238E27FC236}">
                <a16:creationId xmlns:a16="http://schemas.microsoft.com/office/drawing/2014/main" id="{200CA95C-B618-C036-8B1C-9BA881F5EEE4}"/>
              </a:ext>
            </a:extLst>
          </p:cNvPr>
          <p:cNvSpPr/>
          <p:nvPr/>
        </p:nvSpPr>
        <p:spPr>
          <a:xfrm>
            <a:off x="4788000" y="1908000"/>
            <a:ext cx="0" cy="360000"/>
          </a:xfrm>
          <a:prstGeom prst="line">
            <a:avLst/>
          </a:prstGeom>
          <a:noFill/>
          <a:ln w="19050">
            <a:solidFill>
              <a:srgbClr val="1F4E79"/>
            </a:solidFill>
            <a:prstDash val="sysDash"/>
            <a:headEnd type="none"/>
            <a:tailEnd type="stealth" w="med" len="lg"/>
          </a:ln>
        </p:spPr>
        <p:txBody>
          <a:bodyPr/>
          <a:lstStyle/>
          <a:p>
            <a:endParaRPr lang="de-DE" dirty="0"/>
          </a:p>
        </p:txBody>
      </p:sp>
      <p:sp>
        <p:nvSpPr>
          <p:cNvPr id="87" name="Shape 38">
            <a:extLst>
              <a:ext uri="{FF2B5EF4-FFF2-40B4-BE49-F238E27FC236}">
                <a16:creationId xmlns:a16="http://schemas.microsoft.com/office/drawing/2014/main" id="{513481D8-652E-C9C9-D8E2-5B30E2A0FB8D}"/>
              </a:ext>
            </a:extLst>
          </p:cNvPr>
          <p:cNvSpPr/>
          <p:nvPr/>
        </p:nvSpPr>
        <p:spPr>
          <a:xfrm>
            <a:off x="6372000" y="1908000"/>
            <a:ext cx="0" cy="360000"/>
          </a:xfrm>
          <a:prstGeom prst="line">
            <a:avLst/>
          </a:prstGeom>
          <a:noFill/>
          <a:ln w="19050">
            <a:solidFill>
              <a:srgbClr val="1F4E79"/>
            </a:solidFill>
            <a:prstDash val="sysDash"/>
            <a:headEnd type="none"/>
            <a:tailEnd type="stealth" w="med" len="lg"/>
          </a:ln>
        </p:spPr>
        <p:txBody>
          <a:bodyPr/>
          <a:lstStyle/>
          <a:p>
            <a:endParaRPr lang="de-DE" dirty="0"/>
          </a:p>
        </p:txBody>
      </p:sp>
      <p:sp>
        <p:nvSpPr>
          <p:cNvPr id="88" name="Shape 38">
            <a:extLst>
              <a:ext uri="{FF2B5EF4-FFF2-40B4-BE49-F238E27FC236}">
                <a16:creationId xmlns:a16="http://schemas.microsoft.com/office/drawing/2014/main" id="{1BCD718A-A07C-25C5-C13C-D5182A621581}"/>
              </a:ext>
            </a:extLst>
          </p:cNvPr>
          <p:cNvSpPr/>
          <p:nvPr/>
        </p:nvSpPr>
        <p:spPr>
          <a:xfrm>
            <a:off x="7956000" y="1908000"/>
            <a:ext cx="0" cy="360000"/>
          </a:xfrm>
          <a:prstGeom prst="line">
            <a:avLst/>
          </a:prstGeom>
          <a:noFill/>
          <a:ln w="19050">
            <a:solidFill>
              <a:srgbClr val="1F4E79"/>
            </a:solidFill>
            <a:prstDash val="sysDash"/>
            <a:headEnd type="none"/>
            <a:tailEnd type="stealth" w="med" len="lg"/>
          </a:ln>
        </p:spPr>
        <p:txBody>
          <a:bodyPr/>
          <a:lstStyle/>
          <a:p>
            <a:endParaRPr lang="de-DE" dirty="0"/>
          </a:p>
        </p:txBody>
      </p:sp>
      <p:sp>
        <p:nvSpPr>
          <p:cNvPr id="89" name="Shape 43">
            <a:extLst>
              <a:ext uri="{FF2B5EF4-FFF2-40B4-BE49-F238E27FC236}">
                <a16:creationId xmlns:a16="http://schemas.microsoft.com/office/drawing/2014/main" id="{7886073F-7BF0-3D93-97A6-EC287548E350}"/>
              </a:ext>
            </a:extLst>
          </p:cNvPr>
          <p:cNvSpPr/>
          <p:nvPr/>
        </p:nvSpPr>
        <p:spPr>
          <a:xfrm>
            <a:off x="11520000" y="1908000"/>
            <a:ext cx="0" cy="1260000"/>
          </a:xfrm>
          <a:prstGeom prst="line">
            <a:avLst/>
          </a:prstGeom>
          <a:noFill/>
          <a:ln w="31750">
            <a:solidFill>
              <a:srgbClr val="1F4E79"/>
            </a:solidFill>
            <a:prstDash val="solid"/>
            <a:headEnd type="none"/>
            <a:tailEnd type="stealth" w="med" len="lg"/>
          </a:ln>
        </p:spPr>
      </p:sp>
      <p:sp>
        <p:nvSpPr>
          <p:cNvPr id="92" name="Text 21">
            <a:extLst>
              <a:ext uri="{FF2B5EF4-FFF2-40B4-BE49-F238E27FC236}">
                <a16:creationId xmlns:a16="http://schemas.microsoft.com/office/drawing/2014/main" id="{56FAD8AF-7D28-C73E-B5E9-BB3D1928F9EE}"/>
              </a:ext>
            </a:extLst>
          </p:cNvPr>
          <p:cNvSpPr/>
          <p:nvPr/>
        </p:nvSpPr>
        <p:spPr>
          <a:xfrm>
            <a:off x="11514063" y="1988986"/>
            <a:ext cx="25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</a:t>
            </a:r>
            <a:endParaRPr lang="en-US" sz="1000" dirty="0"/>
          </a:p>
        </p:txBody>
      </p:sp>
      <p:sp>
        <p:nvSpPr>
          <p:cNvPr id="95" name="Text 47">
            <a:extLst>
              <a:ext uri="{FF2B5EF4-FFF2-40B4-BE49-F238E27FC236}">
                <a16:creationId xmlns:a16="http://schemas.microsoft.com/office/drawing/2014/main" id="{A3B19EAC-C763-2AC7-884B-5A015832D73E}"/>
              </a:ext>
            </a:extLst>
          </p:cNvPr>
          <p:cNvSpPr/>
          <p:nvPr/>
        </p:nvSpPr>
        <p:spPr>
          <a:xfrm>
            <a:off x="2592000" y="3420000"/>
            <a:ext cx="360000" cy="20116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000" dirty="0"/>
          </a:p>
        </p:txBody>
      </p:sp>
      <p:sp>
        <p:nvSpPr>
          <p:cNvPr id="97" name="Text 47">
            <a:extLst>
              <a:ext uri="{FF2B5EF4-FFF2-40B4-BE49-F238E27FC236}">
                <a16:creationId xmlns:a16="http://schemas.microsoft.com/office/drawing/2014/main" id="{1FEFA600-5E89-2271-534F-21941BF1E1DB}"/>
              </a:ext>
            </a:extLst>
          </p:cNvPr>
          <p:cNvSpPr/>
          <p:nvPr/>
        </p:nvSpPr>
        <p:spPr>
          <a:xfrm>
            <a:off x="4212000" y="3398817"/>
            <a:ext cx="360000" cy="20116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000" dirty="0"/>
          </a:p>
        </p:txBody>
      </p:sp>
      <p:sp>
        <p:nvSpPr>
          <p:cNvPr id="99" name="Text 47">
            <a:extLst>
              <a:ext uri="{FF2B5EF4-FFF2-40B4-BE49-F238E27FC236}">
                <a16:creationId xmlns:a16="http://schemas.microsoft.com/office/drawing/2014/main" id="{59090DAC-D277-7025-F106-9845361787BE}"/>
              </a:ext>
            </a:extLst>
          </p:cNvPr>
          <p:cNvSpPr/>
          <p:nvPr/>
        </p:nvSpPr>
        <p:spPr>
          <a:xfrm>
            <a:off x="5832000" y="3420000"/>
            <a:ext cx="360000" cy="20116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000" dirty="0"/>
          </a:p>
        </p:txBody>
      </p:sp>
      <p:sp>
        <p:nvSpPr>
          <p:cNvPr id="101" name="Text 47">
            <a:extLst>
              <a:ext uri="{FF2B5EF4-FFF2-40B4-BE49-F238E27FC236}">
                <a16:creationId xmlns:a16="http://schemas.microsoft.com/office/drawing/2014/main" id="{3496CA35-203F-7BC3-8333-83261B59C753}"/>
              </a:ext>
            </a:extLst>
          </p:cNvPr>
          <p:cNvSpPr/>
          <p:nvPr/>
        </p:nvSpPr>
        <p:spPr>
          <a:xfrm>
            <a:off x="7452000" y="3420000"/>
            <a:ext cx="360000" cy="20116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000" dirty="0"/>
          </a:p>
        </p:txBody>
      </p:sp>
      <p:sp>
        <p:nvSpPr>
          <p:cNvPr id="103" name="Text 47">
            <a:extLst>
              <a:ext uri="{FF2B5EF4-FFF2-40B4-BE49-F238E27FC236}">
                <a16:creationId xmlns:a16="http://schemas.microsoft.com/office/drawing/2014/main" id="{450A66F6-6BD6-A250-FC3A-44E99D2F8075}"/>
              </a:ext>
            </a:extLst>
          </p:cNvPr>
          <p:cNvSpPr/>
          <p:nvPr/>
        </p:nvSpPr>
        <p:spPr>
          <a:xfrm>
            <a:off x="9036000" y="3420000"/>
            <a:ext cx="360000" cy="20116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000" dirty="0"/>
          </a:p>
        </p:txBody>
      </p:sp>
      <p:sp>
        <p:nvSpPr>
          <p:cNvPr id="105" name="Text 47">
            <a:extLst>
              <a:ext uri="{FF2B5EF4-FFF2-40B4-BE49-F238E27FC236}">
                <a16:creationId xmlns:a16="http://schemas.microsoft.com/office/drawing/2014/main" id="{CAB58378-2E41-E040-FCB0-8BB420A834C9}"/>
              </a:ext>
            </a:extLst>
          </p:cNvPr>
          <p:cNvSpPr/>
          <p:nvPr/>
        </p:nvSpPr>
        <p:spPr>
          <a:xfrm>
            <a:off x="10620000" y="3420000"/>
            <a:ext cx="360000" cy="20116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000" dirty="0"/>
          </a:p>
        </p:txBody>
      </p:sp>
      <p:sp>
        <p:nvSpPr>
          <p:cNvPr id="106" name="Shape 43">
            <a:extLst>
              <a:ext uri="{FF2B5EF4-FFF2-40B4-BE49-F238E27FC236}">
                <a16:creationId xmlns:a16="http://schemas.microsoft.com/office/drawing/2014/main" id="{0B354986-5BE8-F43C-C115-587B31D11811}"/>
              </a:ext>
            </a:extLst>
          </p:cNvPr>
          <p:cNvSpPr/>
          <p:nvPr/>
        </p:nvSpPr>
        <p:spPr>
          <a:xfrm>
            <a:off x="1584000" y="3888000"/>
            <a:ext cx="0" cy="46800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ysDash"/>
            <a:headEnd type="none"/>
            <a:tailEnd type="stealth" w="med" len="lg"/>
          </a:ln>
        </p:spPr>
      </p:sp>
      <p:sp>
        <p:nvSpPr>
          <p:cNvPr id="107" name="Shape 43">
            <a:extLst>
              <a:ext uri="{FF2B5EF4-FFF2-40B4-BE49-F238E27FC236}">
                <a16:creationId xmlns:a16="http://schemas.microsoft.com/office/drawing/2014/main" id="{87A96C97-9034-6A6F-C43D-8B2EA7F9E96B}"/>
              </a:ext>
            </a:extLst>
          </p:cNvPr>
          <p:cNvSpPr/>
          <p:nvPr/>
        </p:nvSpPr>
        <p:spPr>
          <a:xfrm>
            <a:off x="1584000" y="1898983"/>
            <a:ext cx="0" cy="198000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ysDash"/>
            <a:headEnd type="none"/>
            <a:tailEnd type="stealth" w="med" len="lg"/>
          </a:ln>
        </p:spPr>
      </p:sp>
      <p:sp>
        <p:nvSpPr>
          <p:cNvPr id="108" name="Text 47">
            <a:extLst>
              <a:ext uri="{FF2B5EF4-FFF2-40B4-BE49-F238E27FC236}">
                <a16:creationId xmlns:a16="http://schemas.microsoft.com/office/drawing/2014/main" id="{7FB582B8-FAB0-5FF5-6187-A335AB513CB6}"/>
              </a:ext>
            </a:extLst>
          </p:cNvPr>
          <p:cNvSpPr/>
          <p:nvPr/>
        </p:nvSpPr>
        <p:spPr>
          <a:xfrm>
            <a:off x="1415948" y="3410983"/>
            <a:ext cx="360000" cy="20116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000" dirty="0"/>
          </a:p>
        </p:txBody>
      </p:sp>
      <p:sp>
        <p:nvSpPr>
          <p:cNvPr id="109" name="Text 47">
            <a:extLst>
              <a:ext uri="{FF2B5EF4-FFF2-40B4-BE49-F238E27FC236}">
                <a16:creationId xmlns:a16="http://schemas.microsoft.com/office/drawing/2014/main" id="{DE0C3004-1DC6-2CC3-98F4-1F0B75BE24FB}"/>
              </a:ext>
            </a:extLst>
          </p:cNvPr>
          <p:cNvSpPr/>
          <p:nvPr/>
        </p:nvSpPr>
        <p:spPr>
          <a:xfrm>
            <a:off x="1008000" y="2628000"/>
            <a:ext cx="360000" cy="2160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000" dirty="0"/>
          </a:p>
        </p:txBody>
      </p:sp>
      <p:cxnSp>
        <p:nvCxnSpPr>
          <p:cNvPr id="111" name="Gerade Verbindung mit Pfeil 110">
            <a:extLst>
              <a:ext uri="{FF2B5EF4-FFF2-40B4-BE49-F238E27FC236}">
                <a16:creationId xmlns:a16="http://schemas.microsoft.com/office/drawing/2014/main" id="{3560238D-0980-544C-DC15-F2B5444806F8}"/>
              </a:ext>
            </a:extLst>
          </p:cNvPr>
          <p:cNvCxnSpPr>
            <a:cxnSpLocks/>
          </p:cNvCxnSpPr>
          <p:nvPr/>
        </p:nvCxnSpPr>
        <p:spPr>
          <a:xfrm flipV="1">
            <a:off x="2304000" y="4571460"/>
            <a:ext cx="900000" cy="0"/>
          </a:xfrm>
          <a:prstGeom prst="straightConnector1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stealth" w="med" len="lg"/>
          </a:ln>
        </p:spPr>
      </p:cxnSp>
      <p:cxnSp>
        <p:nvCxnSpPr>
          <p:cNvPr id="113" name="Gerade Verbindung mit Pfeil 112">
            <a:extLst>
              <a:ext uri="{FF2B5EF4-FFF2-40B4-BE49-F238E27FC236}">
                <a16:creationId xmlns:a16="http://schemas.microsoft.com/office/drawing/2014/main" id="{B95D7D24-2B5A-4472-B34D-E766EF76CE21}"/>
              </a:ext>
            </a:extLst>
          </p:cNvPr>
          <p:cNvCxnSpPr/>
          <p:nvPr/>
        </p:nvCxnSpPr>
        <p:spPr>
          <a:xfrm flipV="1">
            <a:off x="2304000" y="5148000"/>
            <a:ext cx="900000" cy="0"/>
          </a:xfrm>
          <a:prstGeom prst="straightConnector1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stealth" w="med" len="lg"/>
          </a:ln>
        </p:spPr>
      </p:cxnSp>
      <p:sp>
        <p:nvSpPr>
          <p:cNvPr id="114" name="Shape 36">
            <a:extLst>
              <a:ext uri="{FF2B5EF4-FFF2-40B4-BE49-F238E27FC236}">
                <a16:creationId xmlns:a16="http://schemas.microsoft.com/office/drawing/2014/main" id="{73BEE562-C56F-5363-B290-55C853FE3D6B}"/>
              </a:ext>
            </a:extLst>
          </p:cNvPr>
          <p:cNvSpPr/>
          <p:nvPr/>
        </p:nvSpPr>
        <p:spPr>
          <a:xfrm flipH="1" flipV="1">
            <a:off x="1955954" y="2618991"/>
            <a:ext cx="1080000" cy="0"/>
          </a:xfrm>
          <a:prstGeom prst="line">
            <a:avLst/>
          </a:prstGeom>
          <a:noFill/>
          <a:ln w="31750">
            <a:solidFill>
              <a:srgbClr val="1F4E79"/>
            </a:solidFill>
            <a:prstDash val="solid"/>
            <a:headEnd type="none"/>
            <a:tailEnd type="stealth" w="med" len="lg"/>
          </a:ln>
        </p:spPr>
      </p:sp>
      <p:sp>
        <p:nvSpPr>
          <p:cNvPr id="25" name="Text 64">
            <a:extLst>
              <a:ext uri="{FF2B5EF4-FFF2-40B4-BE49-F238E27FC236}">
                <a16:creationId xmlns:a16="http://schemas.microsoft.com/office/drawing/2014/main" id="{ACE731FA-4FFC-676C-24D0-A0FCFA30E2C2}"/>
              </a:ext>
            </a:extLst>
          </p:cNvPr>
          <p:cNvSpPr/>
          <p:nvPr/>
        </p:nvSpPr>
        <p:spPr>
          <a:xfrm>
            <a:off x="1685951" y="4005010"/>
            <a:ext cx="504000" cy="2880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773</Words>
  <Application>Microsoft Office PowerPoint</Application>
  <PresentationFormat>Breitbild</PresentationFormat>
  <Paragraphs>100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bTn Wecker – State-Machine-Diagramme</dc:title>
  <dc:subject>PptxGenJS Presentation</dc:subject>
  <dc:creator>PptxGenJS</dc:creator>
  <cp:lastModifiedBy>Bernd</cp:lastModifiedBy>
  <cp:revision>11</cp:revision>
  <dcterms:created xsi:type="dcterms:W3CDTF">2026-03-21T09:21:23Z</dcterms:created>
  <dcterms:modified xsi:type="dcterms:W3CDTF">2026-04-17T12:13:40Z</dcterms:modified>
</cp:coreProperties>
</file>